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Relationship Id="rId3" Type="http://schemas.openxmlformats.org/officeDocument/2006/relationships/image" Target="../media/image8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png"/><Relationship Id="rId3" Type="http://schemas.openxmlformats.org/officeDocument/2006/relationships/image" Target="../media/image10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548640" y="292608"/>
            <a:ext cx="2377440" cy="329184"/>
          </a:xfrm>
          <a:prstGeom prst="roundRect">
            <a:avLst/>
          </a:prstGeom>
          <a:solidFill>
            <a:srgbClr val="1E3A8A"/>
          </a:solidFill>
          <a:ln>
            <a:solidFill>
              <a:srgbClr val="06B6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defRPr sz="1100" b="1">
                <a:solidFill>
                  <a:srgbClr val="06B6D4"/>
                </a:solidFill>
              </a:defRPr>
            </a:pPr>
            <a:r>
              <a:t>BÁO CÁO GIỮA KỲ KTPM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58368"/>
            <a:ext cx="1106424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ĐỀ TÀI 1: LẬP KẾ HOẠCH &amp; THIẾT KẾ TEST CASE CHO ỨNG DỤNG WEB THỰC TẾ</a:t>
            </a:r>
          </a:p>
          <a:p>
            <a:pPr>
              <a:defRPr sz="1300">
                <a:solidFill>
                  <a:srgbClr val="94A3B8"/>
                </a:solidFill>
              </a:defRPr>
            </a:pPr>
            <a:r>
              <a:t>Đối tượng kiểm thử (SUT): GameEdu — Nền tảng Học tập Trò chơi hóa Thời gian thực (Next.js 16 + ASP.NET Core + SignalR)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48640" y="1645920"/>
            <a:ext cx="5486400" cy="448056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06B6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13232" y="1773936"/>
            <a:ext cx="5157216" cy="42245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500" b="1">
                <a:solidFill>
                  <a:srgbClr val="06B6D4"/>
                </a:solidFill>
              </a:defRPr>
            </a:pPr>
            <a:r>
              <a:t>Hồ Sơ Bàn Giao Đề Tài 1 (Chuẩn IEEE 829)</a:t>
            </a:r>
          </a:p>
          <a:p>
            <a:pPr>
              <a:spcAft>
                <a:spcPts val="400"/>
              </a:spcAft>
              <a:defRPr sz="1250">
                <a:solidFill>
                  <a:srgbClr val="FFFFFF"/>
                </a:solidFill>
              </a:defRPr>
            </a:pPr>
            <a:r>
              <a:t>• File 1: Kế hoạch kiểm thử (Test_Plan_GameEdu.docx)</a:t>
            </a:r>
          </a:p>
          <a:p>
            <a:pPr>
              <a:spcAft>
                <a:spcPts val="400"/>
              </a:spcAft>
              <a:defRPr sz="1250">
                <a:solidFill>
                  <a:srgbClr val="FFFFFF"/>
                </a:solidFill>
              </a:defRPr>
            </a:pPr>
            <a:r>
              <a:t>• File 2: Kịch bản kiểm thử 25 TCs + RTM (Test_Cases_GameEdu.xlsx)</a:t>
            </a:r>
          </a:p>
          <a:p>
            <a:pPr>
              <a:spcAft>
                <a:spcPts val="400"/>
              </a:spcAft>
              <a:defRPr sz="1250">
                <a:solidFill>
                  <a:srgbClr val="FFFFFF"/>
                </a:solidFill>
              </a:defRPr>
            </a:pPr>
            <a:r>
              <a:t>• File 3: Slide báo cáo thuyết trình (Slide_BaoCao_KTPM_DeTai1.pptx)</a:t>
            </a:r>
          </a:p>
          <a:p>
            <a:pPr>
              <a:spcAft>
                <a:spcPts val="400"/>
              </a:spcAft>
              <a:defRPr sz="1250">
                <a:solidFill>
                  <a:srgbClr val="FFFFFF"/>
                </a:solidFill>
              </a:defRPr>
            </a:pPr>
            <a:r>
              <a:t>• Bổ trợ: Hồ sơ phân tích yêu cầu (PRD_Phan_Tich_Yeu_Cau_GameEdu.docx)</a:t>
            </a:r>
          </a:p>
          <a:p>
            <a:pPr>
              <a:spcAft>
                <a:spcPts val="400"/>
              </a:spcAft>
              <a:defRPr sz="1250">
                <a:solidFill>
                  <a:srgbClr val="FFFFFF"/>
                </a:solidFill>
              </a:defRPr>
            </a:pPr>
            <a:r>
              <a:t>• Minh chứng thực thi: 10 ảnh chụp trình duyệt thực tế (EV_01 -&gt; EV_10)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309360" y="1645920"/>
            <a:ext cx="5303520" cy="448056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73952" y="1773936"/>
            <a:ext cx="4974336" cy="42245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500" b="1">
                <a:solidFill>
                  <a:srgbClr val="10B981"/>
                </a:solidFill>
              </a:defRPr>
            </a:pPr>
            <a:r>
              <a:t>Thông Tin Hệ Thống Thực Tế Được Kiểm Thử</a:t>
            </a:r>
          </a:p>
          <a:p>
            <a:pPr>
              <a:spcAft>
                <a:spcPts val="400"/>
              </a:spcAft>
              <a:defRPr sz="1250">
                <a:solidFill>
                  <a:srgbClr val="FFFFFF"/>
                </a:solidFill>
              </a:defRPr>
            </a:pPr>
            <a:r>
              <a:t>• Frontend: Next.js 16.3.6 (App Router, React 19, TailwindCSS v4)</a:t>
            </a:r>
          </a:p>
          <a:p>
            <a:pPr>
              <a:spcAft>
                <a:spcPts val="400"/>
              </a:spcAft>
              <a:defRPr sz="1250">
                <a:solidFill>
                  <a:srgbClr val="FFFFFF"/>
                </a:solidFill>
              </a:defRPr>
            </a:pPr>
            <a:r>
              <a:t>• Backend: ASP.NET Core 8 Web API + SignalR Real-time Hubs</a:t>
            </a:r>
          </a:p>
          <a:p>
            <a:pPr>
              <a:spcAft>
                <a:spcPts val="400"/>
              </a:spcAft>
              <a:defRPr sz="1250">
                <a:solidFill>
                  <a:srgbClr val="FFFFFF"/>
                </a:solidFill>
              </a:defRPr>
            </a:pPr>
            <a:r>
              <a:t>• Cơ sở dữ liệu: SQL Server (Entity Framework Core) + MemoryCache</a:t>
            </a:r>
          </a:p>
          <a:p>
            <a:pPr>
              <a:spcAft>
                <a:spcPts val="400"/>
              </a:spcAft>
              <a:defRPr sz="1250">
                <a:solidFill>
                  <a:srgbClr val="FFFFFF"/>
                </a:solidFill>
              </a:defRPr>
            </a:pPr>
            <a:r>
              <a:t>• Tính năng nổi bật: Hải Tặc Tri Thức theo lượt bắn, Đấu trường 60FPS</a:t>
            </a:r>
          </a:p>
          <a:p>
            <a:pPr>
              <a:spcAft>
                <a:spcPts val="400"/>
              </a:spcAft>
              <a:defRPr sz="1250">
                <a:solidFill>
                  <a:srgbClr val="FFFFFF"/>
                </a:solidFill>
              </a:defRPr>
            </a:pPr>
            <a:r>
              <a:t>• Kết quả thực thi: 25/25 Test Cases đạt PASS (Tỷ lệ 100%)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548640" y="292608"/>
            <a:ext cx="2377440" cy="329184"/>
          </a:xfrm>
          <a:prstGeom prst="roundRect">
            <a:avLst/>
          </a:prstGeom>
          <a:solidFill>
            <a:srgbClr val="1E3A8A"/>
          </a:solidFill>
          <a:ln>
            <a:solidFill>
              <a:srgbClr val="06B6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defRPr sz="1100" b="1">
                <a:solidFill>
                  <a:srgbClr val="06B6D4"/>
                </a:solidFill>
              </a:defRPr>
            </a:pPr>
            <a:r>
              <a:t>PHẦN 1 • TỔNG QUAN SUT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58368"/>
            <a:ext cx="1106424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Kiến Trúc Ứng Dụng GameEdu &amp; Kiểm Thử Giao Diện Sáng / Tối</a:t>
            </a:r>
          </a:p>
          <a:p>
            <a:pPr>
              <a:defRPr sz="1300">
                <a:solidFill>
                  <a:srgbClr val="94A3B8"/>
                </a:solidFill>
              </a:defRPr>
            </a:pPr>
            <a:r>
              <a:t>Minh chứng thực tế EV_10 (TC_REP_03): Chuyển đổi đồng bộ Light / Dark Mode ngay cạnh ảnh đại diện (Avatar)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48640" y="1508760"/>
            <a:ext cx="4114800" cy="475488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6366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13232" y="1636776"/>
            <a:ext cx="3785615" cy="44988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500" b="1">
                <a:solidFill>
                  <a:srgbClr val="6366F1"/>
                </a:solidFill>
              </a:defRPr>
            </a:pPr>
            <a:r>
              <a:t>Kiến Trúc &amp; Trải Nghiệm UI/UX</a:t>
            </a:r>
          </a:p>
          <a:p>
            <a:pPr>
              <a:spcAft>
                <a:spcPts val="400"/>
              </a:spcAft>
              <a:defRPr sz="1250">
                <a:solidFill>
                  <a:srgbClr val="FFFFFF"/>
                </a:solidFill>
              </a:defRPr>
            </a:pPr>
            <a:r>
              <a:t>• Mô hình Client-Server kết hợp WebSocket (SignalR)</a:t>
            </a:r>
          </a:p>
          <a:p>
            <a:pPr>
              <a:spcAft>
                <a:spcPts val="400"/>
              </a:spcAft>
              <a:defRPr sz="1250">
                <a:solidFill>
                  <a:srgbClr val="FFFFFF"/>
                </a:solidFill>
              </a:defRPr>
            </a:pPr>
            <a:r>
              <a:t>• Đồng bộ trạng thái phòng thi đấu độ trễ &lt; 200ms</a:t>
            </a:r>
          </a:p>
          <a:p>
            <a:pPr>
              <a:spcAft>
                <a:spcPts val="400"/>
              </a:spcAft>
              <a:defRPr sz="1250">
                <a:solidFill>
                  <a:srgbClr val="FFFFFF"/>
                </a:solidFill>
              </a:defRPr>
            </a:pPr>
            <a:r>
              <a:t>• Nút chuyển đổi Sáng/Tối (ThemeToggleButton) cạnh Avatar</a:t>
            </a:r>
          </a:p>
          <a:p>
            <a:pPr>
              <a:spcAft>
                <a:spcPts val="400"/>
              </a:spcAft>
              <a:defRPr sz="1250">
                <a:solidFill>
                  <a:srgbClr val="FFFFFF"/>
                </a:solidFill>
              </a:defRPr>
            </a:pPr>
            <a:r>
              <a:t>• Lưu trạng thái vào localStorage('theme') &amp; data-theme</a:t>
            </a:r>
          </a:p>
          <a:p>
            <a:pPr>
              <a:spcAft>
                <a:spcPts val="400"/>
              </a:spcAft>
              <a:defRPr sz="1250">
                <a:solidFill>
                  <a:srgbClr val="FFFFFF"/>
                </a:solidFill>
              </a:defRPr>
            </a:pPr>
            <a:r>
              <a:t>• Tương thích toàn bộ các trang chủ, thư viện, hồ sơ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800600" y="2239901"/>
            <a:ext cx="6858000" cy="3292597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06B6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8" name="Picture 7" descr="EV_10_Light_Dark_Them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46320" y="2285621"/>
            <a:ext cx="6766560" cy="3201157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548640" y="292608"/>
            <a:ext cx="2377440" cy="329184"/>
          </a:xfrm>
          <a:prstGeom prst="roundRect">
            <a:avLst/>
          </a:prstGeom>
          <a:solidFill>
            <a:srgbClr val="1E3A8A"/>
          </a:solidFill>
          <a:ln>
            <a:solidFill>
              <a:srgbClr val="06B6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defRPr sz="1100" b="1">
                <a:solidFill>
                  <a:srgbClr val="06B6D4"/>
                </a:solidFill>
              </a:defRPr>
            </a:pPr>
            <a:r>
              <a:t>PHẦN 2 • ĐẶC TẢ YÊU CẦU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58368"/>
            <a:ext cx="1106424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Phân Tích 5 Phân Hệ Cốt Lõi &amp; Trình Soạn Đề 3 Cột / AI</a:t>
            </a:r>
          </a:p>
          <a:p>
            <a:pPr>
              <a:defRPr sz="1300">
                <a:solidFill>
                  <a:srgbClr val="94A3B8"/>
                </a:solidFill>
              </a:defRPr>
            </a:pPr>
            <a:r>
              <a:t>Minh chứng thực tế EV_02 (TC_QUIZ_01 &amp; TC_QUIZ_02): Soạn câu hỏi đa dạng (Trắc nghiệm, Điền khuyết, Ghép nối)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48640" y="1508760"/>
            <a:ext cx="4114800" cy="475488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13232" y="1636776"/>
            <a:ext cx="3785615" cy="44988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500" b="1">
                <a:solidFill>
                  <a:srgbClr val="F59E0B"/>
                </a:solidFill>
              </a:defRPr>
            </a:pPr>
            <a:r>
              <a:t>17 Yêu Cầu Chức Năng (FR) &amp; 5 NFR</a:t>
            </a:r>
          </a:p>
          <a:p>
            <a:pPr>
              <a:spcAft>
                <a:spcPts val="400"/>
              </a:spcAft>
              <a:defRPr sz="1250">
                <a:solidFill>
                  <a:srgbClr val="FFFFFF"/>
                </a:solidFill>
              </a:defRPr>
            </a:pPr>
            <a:r>
              <a:t>• M1 - Auth: Đăng ký OTP, Đăng nhập JWT, Khóa 5 lần sai</a:t>
            </a:r>
          </a:p>
          <a:p>
            <a:pPr>
              <a:spcAft>
                <a:spcPts val="400"/>
              </a:spcAft>
              <a:defRPr sz="1250">
                <a:solidFill>
                  <a:srgbClr val="FFFFFF"/>
                </a:solidFill>
              </a:defRPr>
            </a:pPr>
            <a:r>
              <a:t>• M2 - Quiz &amp; AI: Trắc nghiệm, Điền khuyết, Ghép nối, AI</a:t>
            </a:r>
          </a:p>
          <a:p>
            <a:pPr>
              <a:spcAft>
                <a:spcPts val="400"/>
              </a:spcAft>
              <a:defRPr sz="1250">
                <a:solidFill>
                  <a:srgbClr val="FFFFFF"/>
                </a:solidFill>
              </a:defRPr>
            </a:pPr>
            <a:r>
              <a:t>• M3 - Live Room: Mã PIN 6 số, QR Code, Đếm ngược 0s</a:t>
            </a:r>
          </a:p>
          <a:p>
            <a:pPr>
              <a:spcAft>
                <a:spcPts val="400"/>
              </a:spcAft>
              <a:defRPr sz="1250">
                <a:solidFill>
                  <a:srgbClr val="FFFFFF"/>
                </a:solidFill>
              </a:defRPr>
            </a:pPr>
            <a:r>
              <a:t>• M4 - Hải Tặc Tri Thức: Bắn theo lượt, Lưới 15x15, Buff X2</a:t>
            </a:r>
          </a:p>
          <a:p>
            <a:pPr>
              <a:spcAft>
                <a:spcPts val="400"/>
              </a:spcAft>
              <a:defRPr sz="1250">
                <a:solidFill>
                  <a:srgbClr val="FFFFFF"/>
                </a:solidFill>
              </a:defRPr>
            </a:pPr>
            <a:r>
              <a:t>• M5 - Báo cáo: Xếp hạng chi tiết &amp; Xuất file Excel (.xlsx)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800600" y="1646047"/>
            <a:ext cx="6858000" cy="4480305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06B6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8" name="Picture 7" descr="EV_02_Quiz_Creation_AI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46320" y="1691767"/>
            <a:ext cx="6766560" cy="4388866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548640" y="292608"/>
            <a:ext cx="2377440" cy="329184"/>
          </a:xfrm>
          <a:prstGeom prst="roundRect">
            <a:avLst/>
          </a:prstGeom>
          <a:solidFill>
            <a:srgbClr val="1E3A8A"/>
          </a:solidFill>
          <a:ln>
            <a:solidFill>
              <a:srgbClr val="06B6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defRPr sz="1100" b="1">
                <a:solidFill>
                  <a:srgbClr val="06B6D4"/>
                </a:solidFill>
              </a:defRPr>
            </a:pPr>
            <a:r>
              <a:t>PHẦN 3 • TEST PLAN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58368"/>
            <a:ext cx="1106424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Kế Hoạch Kiểm Thử Phần Mềm Theo Chuẩn IEEE 829</a:t>
            </a:r>
          </a:p>
          <a:p>
            <a:pPr>
              <a:defRPr sz="1300">
                <a:solidFill>
                  <a:srgbClr val="94A3B8"/>
                </a:solidFill>
              </a:defRPr>
            </a:pPr>
            <a:r>
              <a:t>Xác định rõ phạm vi Trong kiểm thử (In-Scope) và Ngoài phạm vi (Out-of-Scope) để tối ưu nguồn lực QA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48640" y="1554480"/>
            <a:ext cx="5486400" cy="466344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13232" y="1682495"/>
            <a:ext cx="5157216" cy="44074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500" b="1">
                <a:solidFill>
                  <a:srgbClr val="10B981"/>
                </a:solidFill>
              </a:defRPr>
            </a:pPr>
            <a:r>
              <a:t>Phạm Vi Kiểm Thử (In-Scope)</a:t>
            </a:r>
          </a:p>
          <a:p>
            <a:pPr>
              <a:spcAft>
                <a:spcPts val="400"/>
              </a:spcAft>
              <a:defRPr sz="1250">
                <a:solidFill>
                  <a:srgbClr val="FFFFFF"/>
                </a:solidFill>
              </a:defRPr>
            </a:pPr>
            <a:r>
              <a:t>• Kiểm thử chức năng (Functional) trên toàn bộ 5 phân hệ chính</a:t>
            </a:r>
          </a:p>
          <a:p>
            <a:pPr>
              <a:spcAft>
                <a:spcPts val="400"/>
              </a:spcAft>
              <a:defRPr sz="1250">
                <a:solidFill>
                  <a:srgbClr val="FFFFFF"/>
                </a:solidFill>
              </a:defRPr>
            </a:pPr>
            <a:r>
              <a:t>• Kiểm thử đồng bộ thời gian thực (SignalR Hub Events)</a:t>
            </a:r>
          </a:p>
          <a:p>
            <a:pPr>
              <a:spcAft>
                <a:spcPts val="400"/>
              </a:spcAft>
              <a:defRPr sz="1250">
                <a:solidFill>
                  <a:srgbClr val="FFFFFF"/>
                </a:solidFill>
              </a:defRPr>
            </a:pPr>
            <a:r>
              <a:t>• Kiểm thử logic trả lời theo lượt &amp; bắn tàu trên lưới 15x15</a:t>
            </a:r>
          </a:p>
          <a:p>
            <a:pPr>
              <a:spcAft>
                <a:spcPts val="400"/>
              </a:spcAft>
              <a:defRPr sz="1250">
                <a:solidFill>
                  <a:srgbClr val="FFFFFF"/>
                </a:solidFill>
              </a:defRPr>
            </a:pPr>
            <a:r>
              <a:t>• Kiểm thử giá trị biên (thời gian 0s, độ dài mật khẩu, quân số)</a:t>
            </a:r>
          </a:p>
          <a:p>
            <a:pPr>
              <a:spcAft>
                <a:spcPts val="400"/>
              </a:spcAft>
              <a:defRPr sz="1250">
                <a:solidFill>
                  <a:srgbClr val="FFFFFF"/>
                </a:solidFill>
              </a:defRPr>
            </a:pPr>
            <a:r>
              <a:t>• Kiểm thử giao diện (UI/UX, Light/Dark Mode, Responsive)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217920" y="1554480"/>
            <a:ext cx="5394960" cy="466344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F43F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382512" y="1682495"/>
            <a:ext cx="5065776" cy="44074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500" b="1">
                <a:solidFill>
                  <a:srgbClr val="F43F5E"/>
                </a:solidFill>
              </a:defRPr>
            </a:pPr>
            <a:r>
              <a:t>Ngoài Phạm Vi (Out-of-Scope) &amp; Môi Trường</a:t>
            </a:r>
          </a:p>
          <a:p>
            <a:pPr>
              <a:spcAft>
                <a:spcPts val="400"/>
              </a:spcAft>
              <a:defRPr sz="1250">
                <a:solidFill>
                  <a:srgbClr val="FFFFFF"/>
                </a:solidFill>
              </a:defRPr>
            </a:pPr>
            <a:r>
              <a:t>• Không kiểm thử tải cực hạn DDoS &gt; 10.000 CCU</a:t>
            </a:r>
          </a:p>
          <a:p>
            <a:pPr>
              <a:spcAft>
                <a:spcPts val="400"/>
              </a:spcAft>
              <a:defRPr sz="1250">
                <a:solidFill>
                  <a:srgbClr val="FFFFFF"/>
                </a:solidFill>
              </a:defRPr>
            </a:pPr>
            <a:r>
              <a:t>• Không kiểm thử phần cứng máy chủ vật lý bên thứ ba</a:t>
            </a:r>
          </a:p>
          <a:p>
            <a:pPr>
              <a:spcAft>
                <a:spcPts val="400"/>
              </a:spcAft>
              <a:defRPr sz="1250">
                <a:solidFill>
                  <a:srgbClr val="FFFFFF"/>
                </a:solidFill>
              </a:defRPr>
            </a:pPr>
            <a:r>
              <a:t>• Môi trường Test: Windows 11, Node.js v24, .NET 8, SQL Server</a:t>
            </a:r>
          </a:p>
          <a:p>
            <a:pPr>
              <a:spcAft>
                <a:spcPts val="400"/>
              </a:spcAft>
              <a:defRPr sz="1250">
                <a:solidFill>
                  <a:srgbClr val="FFFFFF"/>
                </a:solidFill>
              </a:defRPr>
            </a:pPr>
            <a:r>
              <a:t>• Trình duyệt: Google Chrome / Microsoft Edge (Multi-Context)</a:t>
            </a:r>
          </a:p>
          <a:p>
            <a:pPr>
              <a:spcAft>
                <a:spcPts val="400"/>
              </a:spcAft>
              <a:defRPr sz="1250">
                <a:solidFill>
                  <a:srgbClr val="FFFFFF"/>
                </a:solidFill>
              </a:defRPr>
            </a:pPr>
            <a:r>
              <a:t>• Công cụ hỗ trợ: Swagger UI, Chrome DevTools Protocol, Excel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548640" y="292608"/>
            <a:ext cx="2377440" cy="329184"/>
          </a:xfrm>
          <a:prstGeom prst="roundRect">
            <a:avLst/>
          </a:prstGeom>
          <a:solidFill>
            <a:srgbClr val="1E3A8A"/>
          </a:solidFill>
          <a:ln>
            <a:solidFill>
              <a:srgbClr val="06B6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defRPr sz="1100" b="1">
                <a:solidFill>
                  <a:srgbClr val="06B6D4"/>
                </a:solidFill>
              </a:defRPr>
            </a:pPr>
            <a:r>
              <a:t>PHẦN 4 • KỸ THUẬT KIỂM THỬ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58368"/>
            <a:ext cx="1106424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4 Kỹ Thuật Thiết Kế Test Case &amp; Minh Chứng Lỗi / Biên Đăng Nhập</a:t>
            </a:r>
          </a:p>
          <a:p>
            <a:pPr>
              <a:defRPr sz="1300">
                <a:solidFill>
                  <a:srgbClr val="94A3B8"/>
                </a:solidFill>
              </a:defRPr>
            </a:pPr>
            <a:r>
              <a:t>Minh chứng thực tế EV_01 (TC_AUTH_02 &amp; TC_AUTH_04): Báo lỗi sai mật khẩu &amp; Chặn biên mật khẩu &lt; 6 ký tự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48640" y="1508760"/>
            <a:ext cx="4114800" cy="475488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06B6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13232" y="1636776"/>
            <a:ext cx="3785615" cy="44988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500" b="1">
                <a:solidFill>
                  <a:srgbClr val="06B6D4"/>
                </a:solidFill>
              </a:defRPr>
            </a:pPr>
            <a:r>
              <a:t>Áp Dụng 4 Kỹ Thuật Thiết Kế</a:t>
            </a:r>
          </a:p>
          <a:p>
            <a:pPr>
              <a:spcAft>
                <a:spcPts val="400"/>
              </a:spcAft>
              <a:defRPr sz="1250">
                <a:solidFill>
                  <a:srgbClr val="FFFFFF"/>
                </a:solidFill>
              </a:defRPr>
            </a:pPr>
            <a:r>
              <a:t>• 1. Phân vùng tương đương (EP): Hợp lệ / Không hợp lệ</a:t>
            </a:r>
          </a:p>
          <a:p>
            <a:pPr>
              <a:spcAft>
                <a:spcPts val="400"/>
              </a:spcAft>
              <a:defRPr sz="1250">
                <a:solidFill>
                  <a:srgbClr val="FFFFFF"/>
                </a:solidFill>
              </a:defRPr>
            </a:pPr>
            <a:r>
              <a:t>• 2. Phân tích giá trị biên (BVA): MK 5-6 ký tự, Timer 0s</a:t>
            </a:r>
          </a:p>
          <a:p>
            <a:pPr>
              <a:spcAft>
                <a:spcPts val="400"/>
              </a:spcAft>
              <a:defRPr sz="1250">
                <a:solidFill>
                  <a:srgbClr val="FFFFFF"/>
                </a:solidFill>
              </a:defRPr>
            </a:pPr>
            <a:r>
              <a:t>• 3. Bảng quyết định (Decision Table): Lượt bắn &amp; Buff X2</a:t>
            </a:r>
          </a:p>
          <a:p>
            <a:pPr>
              <a:spcAft>
                <a:spcPts val="400"/>
              </a:spcAft>
              <a:defRPr sz="1250">
                <a:solidFill>
                  <a:srgbClr val="FFFFFF"/>
                </a:solidFill>
              </a:defRPr>
            </a:pPr>
            <a:r>
              <a:t>• 4. Đoán lỗi (Error Guessing): Bắn trùng tọa độ, hết giờ</a:t>
            </a:r>
          </a:p>
          <a:p>
            <a:pPr>
              <a:spcAft>
                <a:spcPts val="400"/>
              </a:spcAft>
              <a:defRPr sz="1250">
                <a:solidFill>
                  <a:srgbClr val="FFFFFF"/>
                </a:solidFill>
              </a:defRPr>
            </a:pPr>
            <a:r>
              <a:t>• Hình bên: Chụp thực tế 2 cửa sổ /login và /register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800600" y="2638179"/>
            <a:ext cx="6858000" cy="2496041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06B6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8" name="Picture 7" descr="EV_01_Auth_Error_Boundary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46320" y="2683899"/>
            <a:ext cx="6766560" cy="2404601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548640" y="292608"/>
            <a:ext cx="2377440" cy="329184"/>
          </a:xfrm>
          <a:prstGeom prst="roundRect">
            <a:avLst/>
          </a:prstGeom>
          <a:solidFill>
            <a:srgbClr val="1E3A8A"/>
          </a:solidFill>
          <a:ln>
            <a:solidFill>
              <a:srgbClr val="06B6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defRPr sz="1100" b="1">
                <a:solidFill>
                  <a:srgbClr val="06B6D4"/>
                </a:solidFill>
              </a:defRPr>
            </a:pPr>
            <a:r>
              <a:t>PHẦN 5 • RỦI RO &amp; TIÊU CHÍ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58368"/>
            <a:ext cx="1106424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Quản Lý Rủi Ro Chất Lượng &amp; Tiêu Chí Entry / Exit Criteria</a:t>
            </a:r>
          </a:p>
          <a:p>
            <a:pPr>
              <a:defRPr sz="1300">
                <a:solidFill>
                  <a:srgbClr val="94A3B8"/>
                </a:solidFill>
              </a:defRPr>
            </a:pPr>
            <a:r>
              <a:t>Đảm bảo kiểm soát chặt chẽ các rủi ro mất đồng bộ WebSocket và lỗi kẹt màn hình khi hết thời gian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48640" y="1554480"/>
            <a:ext cx="5486400" cy="466344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13232" y="1682495"/>
            <a:ext cx="5157216" cy="44074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500" b="1">
                <a:solidFill>
                  <a:srgbClr val="F59E0B"/>
                </a:solidFill>
              </a:defRPr>
            </a:pPr>
            <a:r>
              <a:t>Ma Trận Rủi Ro &amp; Giải Pháp Giảm Thiểu</a:t>
            </a:r>
          </a:p>
          <a:p>
            <a:pPr>
              <a:spcAft>
                <a:spcPts val="400"/>
              </a:spcAft>
              <a:defRPr sz="1250">
                <a:solidFill>
                  <a:srgbClr val="FFFFFF"/>
                </a:solidFill>
              </a:defRPr>
            </a:pPr>
            <a:r>
              <a:t>• Rủi ro 1: Hai đội cùng thấy câu hỏi trong Hải Tặc Tri Thức -&gt; Khóa HUD đội chờ lượt (isMyTeamTurn)</a:t>
            </a:r>
          </a:p>
          <a:p>
            <a:pPr>
              <a:spcAft>
                <a:spcPts val="400"/>
              </a:spcAft>
              <a:defRPr sz="1250">
                <a:solidFill>
                  <a:srgbClr val="FFFFFF"/>
                </a:solidFill>
              </a:defRPr>
            </a:pPr>
            <a:r>
              <a:t>• Rủi ro 2: Đếm ngược về 0s bị kẹt câu hỏi -&gt; Tự động chấm +0 pts và chuyển câu sau 2.2s</a:t>
            </a:r>
          </a:p>
          <a:p>
            <a:pPr>
              <a:spcAft>
                <a:spcPts val="400"/>
              </a:spcAft>
              <a:defRPr sz="1250">
                <a:solidFill>
                  <a:srgbClr val="FFFFFF"/>
                </a:solidFill>
              </a:defRPr>
            </a:pPr>
            <a:r>
              <a:t>• Rủi ro 3: Chênh lệch quân số 2 phe -&gt; Tự động cân bằng hoặc cấp bùa BUFF X2 phát bắn</a:t>
            </a:r>
          </a:p>
          <a:p>
            <a:pPr>
              <a:spcAft>
                <a:spcPts val="400"/>
              </a:spcAft>
              <a:defRPr sz="1250">
                <a:solidFill>
                  <a:srgbClr val="FFFFFF"/>
                </a:solidFill>
              </a:defRPr>
            </a:pPr>
            <a:r>
              <a:t>• Rủi ro 4: Mất kết nối SignalR tạm thời -&gt; Tự động Reconnect kèm khôi phục trạng thái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217920" y="1554480"/>
            <a:ext cx="5394960" cy="466344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382512" y="1682495"/>
            <a:ext cx="5065776" cy="44074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500" b="1">
                <a:solidFill>
                  <a:srgbClr val="10B981"/>
                </a:solidFill>
              </a:defRPr>
            </a:pPr>
            <a:r>
              <a:t>Tiêu Chí Bắt Đầu (Entry) &amp; Kết Thúc (Exit)</a:t>
            </a:r>
          </a:p>
          <a:p>
            <a:pPr>
              <a:spcAft>
                <a:spcPts val="400"/>
              </a:spcAft>
              <a:defRPr sz="1250">
                <a:solidFill>
                  <a:srgbClr val="FFFFFF"/>
                </a:solidFill>
              </a:defRPr>
            </a:pPr>
            <a:r>
              <a:t>• Entry: Backend API (.NET 8) &amp; Frontend (Next.js) khởi chạy thành công</a:t>
            </a:r>
          </a:p>
          <a:p>
            <a:pPr>
              <a:spcAft>
                <a:spcPts val="400"/>
              </a:spcAft>
              <a:defRPr sz="1250">
                <a:solidFill>
                  <a:srgbClr val="FFFFFF"/>
                </a:solidFill>
              </a:defRPr>
            </a:pPr>
            <a:r>
              <a:t>• Entry: Cơ sở dữ liệu đã nạp dữ liệu mẫu &amp; tài khoản giáo viên QA</a:t>
            </a:r>
          </a:p>
          <a:p>
            <a:pPr>
              <a:spcAft>
                <a:spcPts val="400"/>
              </a:spcAft>
              <a:defRPr sz="1250">
                <a:solidFill>
                  <a:srgbClr val="FFFFFF"/>
                </a:solidFill>
              </a:defRPr>
            </a:pPr>
            <a:r>
              <a:t>• Exit: Thực thi 100% (25/25) Test Case trong danh mục</a:t>
            </a:r>
          </a:p>
          <a:p>
            <a:pPr>
              <a:spcAft>
                <a:spcPts val="400"/>
              </a:spcAft>
              <a:defRPr sz="1250">
                <a:solidFill>
                  <a:srgbClr val="FFFFFF"/>
                </a:solidFill>
              </a:defRPr>
            </a:pPr>
            <a:r>
              <a:t>• Exit: Tỷ lệ Pass đạt &gt;= 95% (Thực tế đạt 100% Pass)</a:t>
            </a:r>
          </a:p>
          <a:p>
            <a:pPr>
              <a:spcAft>
                <a:spcPts val="400"/>
              </a:spcAft>
              <a:defRPr sz="1250">
                <a:solidFill>
                  <a:srgbClr val="FFFFFF"/>
                </a:solidFill>
              </a:defRPr>
            </a:pPr>
            <a:r>
              <a:t>• Exit: 0 lỗi mức Critical / Blocker tồn đọng trước khi bàn giao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548640" y="292608"/>
            <a:ext cx="2377440" cy="329184"/>
          </a:xfrm>
          <a:prstGeom prst="roundRect">
            <a:avLst/>
          </a:prstGeom>
          <a:solidFill>
            <a:srgbClr val="1E3A8A"/>
          </a:solidFill>
          <a:ln>
            <a:solidFill>
              <a:srgbClr val="06B6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defRPr sz="1100" b="1">
                <a:solidFill>
                  <a:srgbClr val="06B6D4"/>
                </a:solidFill>
              </a:defRPr>
            </a:pPr>
            <a:r>
              <a:t>PHẦN 6 • BỘ 25 TEST CASES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58368"/>
            <a:ext cx="1106424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Phân Bổ 25 Test Cases &amp; Minh Chứng Sảnh Chờ Mã PIN / QR Code</a:t>
            </a:r>
          </a:p>
          <a:p>
            <a:pPr>
              <a:defRPr sz="1300">
                <a:solidFill>
                  <a:srgbClr val="94A3B8"/>
                </a:solidFill>
              </a:defRPr>
            </a:pPr>
            <a:r>
              <a:t>Minh chứng thực tế EV_03 (TC_ROOM_01 &amp; TC_ROOM_02): Sảnh chờ mã PIN 6 số + Chặn mã PIN 999999 không tồn tại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48640" y="1508760"/>
            <a:ext cx="4114800" cy="475488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6366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13232" y="1636776"/>
            <a:ext cx="3785615" cy="44988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500" b="1">
                <a:solidFill>
                  <a:srgbClr val="6366F1"/>
                </a:solidFill>
              </a:defRPr>
            </a:pPr>
            <a:r>
              <a:t>Cấu Trúc 25 Test Cases (Excel)</a:t>
            </a:r>
          </a:p>
          <a:p>
            <a:pPr>
              <a:spcAft>
                <a:spcPts val="400"/>
              </a:spcAft>
              <a:defRPr sz="1250">
                <a:solidFill>
                  <a:srgbClr val="FFFFFF"/>
                </a:solidFill>
              </a:defRPr>
            </a:pPr>
            <a:r>
              <a:t>• M1 - Xác thực (Auth): 5 TCs (TC_AUTH_01 -&gt; 05)</a:t>
            </a:r>
          </a:p>
          <a:p>
            <a:pPr>
              <a:spcAft>
                <a:spcPts val="400"/>
              </a:spcAft>
              <a:defRPr sz="1250">
                <a:solidFill>
                  <a:srgbClr val="FFFFFF"/>
                </a:solidFill>
              </a:defRPr>
            </a:pPr>
            <a:r>
              <a:t>• M2 - Bộ đề &amp; AI (Quiz): 5 TCs (TC_QUIZ_01 -&gt; 05)</a:t>
            </a:r>
          </a:p>
          <a:p>
            <a:pPr>
              <a:spcAft>
                <a:spcPts val="400"/>
              </a:spcAft>
              <a:defRPr sz="1250">
                <a:solidFill>
                  <a:srgbClr val="FFFFFF"/>
                </a:solidFill>
              </a:defRPr>
            </a:pPr>
            <a:r>
              <a:t>• M3 - Phòng thi đấu (Room): 5 TCs (TC_ROOM_01 -&gt; 05)</a:t>
            </a:r>
          </a:p>
          <a:p>
            <a:pPr>
              <a:spcAft>
                <a:spcPts val="400"/>
              </a:spcAft>
              <a:defRPr sz="1250">
                <a:solidFill>
                  <a:srgbClr val="FFFFFF"/>
                </a:solidFill>
              </a:defRPr>
            </a:pPr>
            <a:r>
              <a:t>• M4 - Hải Tặc Tri Thức: 7 TCs (TC_NAVAL_01 -&gt; 07)</a:t>
            </a:r>
          </a:p>
          <a:p>
            <a:pPr>
              <a:spcAft>
                <a:spcPts val="400"/>
              </a:spcAft>
              <a:defRPr sz="1250">
                <a:solidFill>
                  <a:srgbClr val="FFFFFF"/>
                </a:solidFill>
              </a:defRPr>
            </a:pPr>
            <a:r>
              <a:t>• M5 - Báo cáo &amp; UI/UX: 3 TCs (TC_REP_01 -&gt; 03)</a:t>
            </a:r>
          </a:p>
          <a:p>
            <a:pPr>
              <a:spcAft>
                <a:spcPts val="400"/>
              </a:spcAft>
              <a:defRPr sz="1250">
                <a:solidFill>
                  <a:srgbClr val="FFFFFF"/>
                </a:solidFill>
              </a:defRPr>
            </a:pPr>
            <a:r>
              <a:t>• Phân loại: 11 Normal • 7 Boundary • 7 Error Cases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800600" y="2239901"/>
            <a:ext cx="6858000" cy="3292597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06B6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8" name="Picture 7" descr="EV_03_Room_PIN_Lobby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46320" y="2285621"/>
            <a:ext cx="6766560" cy="3201157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548640" y="292608"/>
            <a:ext cx="2377440" cy="329184"/>
          </a:xfrm>
          <a:prstGeom prst="roundRect">
            <a:avLst/>
          </a:prstGeom>
          <a:solidFill>
            <a:srgbClr val="1E3A8A"/>
          </a:solidFill>
          <a:ln>
            <a:solidFill>
              <a:srgbClr val="06B6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defRPr sz="1100" b="1">
                <a:solidFill>
                  <a:srgbClr val="06B6D4"/>
                </a:solidFill>
              </a:defRPr>
            </a:pPr>
            <a:r>
              <a:t>PHẦN 7 • MINH CHỨNG BIÊN 0S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58368"/>
            <a:ext cx="1106424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Kiểm Thử Giá Trị Biên: Đồng Hồ Chạm Mốc 0s Tự Động Chuyển Câu</a:t>
            </a:r>
          </a:p>
          <a:p>
            <a:pPr>
              <a:defRPr sz="1300">
                <a:solidFill>
                  <a:srgbClr val="94A3B8"/>
                </a:solidFill>
              </a:defRPr>
            </a:pPr>
            <a:r>
              <a:t>Minh chứng thực tế EV_04 (TC_ROOM_04): Khi hết giờ không trả lời, hệ thống ghi nhận +0 pts và tự chuyển câu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48640" y="1508760"/>
            <a:ext cx="4114800" cy="475488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F43F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13232" y="1636776"/>
            <a:ext cx="3785615" cy="44988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500" b="1">
                <a:solidFill>
                  <a:srgbClr val="F43F5E"/>
                </a:solidFill>
              </a:defRPr>
            </a:pPr>
            <a:r>
              <a:t>Chi Tiết Kịch Bản TC_ROOM_04</a:t>
            </a:r>
          </a:p>
          <a:p>
            <a:pPr>
              <a:spcAft>
                <a:spcPts val="400"/>
              </a:spcAft>
              <a:defRPr sz="1250">
                <a:solidFill>
                  <a:srgbClr val="FFFFFF"/>
                </a:solidFill>
              </a:defRPr>
            </a:pPr>
            <a:r>
              <a:t>• Điều kiện biên: slideTimeLeft giảm dần từ timeLimit về 0s</a:t>
            </a:r>
          </a:p>
          <a:p>
            <a:pPr>
              <a:spcAft>
                <a:spcPts val="400"/>
              </a:spcAft>
              <a:defRPr sz="1250">
                <a:solidFill>
                  <a:srgbClr val="FFFFFF"/>
                </a:solidFill>
              </a:defRPr>
            </a:pPr>
            <a:r>
              <a:t>• Hành động: Học sinh không bấm chọn đáp án nào</a:t>
            </a:r>
          </a:p>
          <a:p>
            <a:pPr>
              <a:spcAft>
                <a:spcPts val="400"/>
              </a:spcAft>
              <a:defRPr sz="1250">
                <a:solidFill>
                  <a:srgbClr val="FFFFFF"/>
                </a:solidFill>
              </a:defRPr>
            </a:pPr>
            <a:r>
              <a:t>• Kết quả mong đợi: Hiện 'ĐÃ HẾT THỜI GIAN! +0 pts'</a:t>
            </a:r>
          </a:p>
          <a:p>
            <a:pPr>
              <a:spcAft>
                <a:spcPts val="400"/>
              </a:spcAft>
              <a:defRPr sz="1250">
                <a:solidFill>
                  <a:srgbClr val="FFFFFF"/>
                </a:solidFill>
              </a:defRPr>
            </a:pPr>
            <a:r>
              <a:t>• Tự động gọi bộ đếm 2.2s chuyển sang câu hỏi kế tiếp</a:t>
            </a:r>
          </a:p>
          <a:p>
            <a:pPr>
              <a:spcAft>
                <a:spcPts val="400"/>
              </a:spcAft>
              <a:defRPr sz="1250">
                <a:solidFill>
                  <a:srgbClr val="FFFFFF"/>
                </a:solidFill>
              </a:defRPr>
            </a:pPr>
            <a:r>
              <a:t>• Trạng thái thực thi: PASS (Không bị treo màn hình)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800600" y="1646047"/>
            <a:ext cx="6858000" cy="4480305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06B6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8" name="Picture 7" descr="EV_04_Timeout_ZeroScore_AutoNex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46320" y="1691767"/>
            <a:ext cx="6766560" cy="4388866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548640" y="292608"/>
            <a:ext cx="2377440" cy="329184"/>
          </a:xfrm>
          <a:prstGeom prst="roundRect">
            <a:avLst/>
          </a:prstGeom>
          <a:solidFill>
            <a:srgbClr val="1E3A8A"/>
          </a:solidFill>
          <a:ln>
            <a:solidFill>
              <a:srgbClr val="06B6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defRPr sz="1100" b="1">
                <a:solidFill>
                  <a:srgbClr val="06B6D4"/>
                </a:solidFill>
              </a:defRPr>
            </a:pPr>
            <a:r>
              <a:t>PHẦN 8 • HẢI TẶC TRI THỨC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58368"/>
            <a:ext cx="1106424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Kiểm Thử Song Song 2 Trình Duyệt: Trả Lời &amp; Khai Hỏa Theo Lượt</a:t>
            </a:r>
          </a:p>
          <a:p>
            <a:pPr>
              <a:defRPr sz="1300">
                <a:solidFill>
                  <a:srgbClr val="94A3B8"/>
                </a:solidFill>
              </a:defRPr>
            </a:pPr>
            <a:r>
              <a:t>Minh chứng thực tế EV_05 (TC_NAVAL_01): Cửa sổ Trái (Phe Lam) hiện câu hỏi • Cửa sổ Phải (Phe Xích) khóa chờ lượt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48640" y="1508760"/>
            <a:ext cx="3931920" cy="475488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06B6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13232" y="1636776"/>
            <a:ext cx="3602736" cy="44988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500" b="1">
                <a:solidFill>
                  <a:srgbClr val="06B6D4"/>
                </a:solidFill>
              </a:defRPr>
            </a:pPr>
            <a:r>
              <a:t>Cơ Chế Lượt Bắn (Turn-Based)</a:t>
            </a:r>
          </a:p>
          <a:p>
            <a:pPr>
              <a:spcAft>
                <a:spcPts val="400"/>
              </a:spcAft>
              <a:defRPr sz="1250">
                <a:solidFill>
                  <a:srgbClr val="FFFFFF"/>
                </a:solidFill>
              </a:defRPr>
            </a:pPr>
            <a:r>
              <a:t>• Lượt #1 thuộc về Hạm Đội Lam (TEAM_A)</a:t>
            </a:r>
          </a:p>
          <a:p>
            <a:pPr>
              <a:spcAft>
                <a:spcPts val="400"/>
              </a:spcAft>
              <a:defRPr sz="1250">
                <a:solidFill>
                  <a:srgbClr val="FFFFFF"/>
                </a:solidFill>
              </a:defRPr>
            </a:pPr>
            <a:r>
              <a:t>• Màn hình Phe Lam: Hiện câu hỏi + 4 đáp án A, B, C, D</a:t>
            </a:r>
          </a:p>
          <a:p>
            <a:pPr>
              <a:spcAft>
                <a:spcPts val="400"/>
              </a:spcAft>
              <a:defRPr sz="1250">
                <a:solidFill>
                  <a:srgbClr val="FFFFFF"/>
                </a:solidFill>
              </a:defRPr>
            </a:pPr>
            <a:r>
              <a:t>• Màn hình Phe Xích: Hiện thông báo Chờ Lượt Đội Bạn</a:t>
            </a:r>
          </a:p>
          <a:p>
            <a:pPr>
              <a:spcAft>
                <a:spcPts val="400"/>
              </a:spcAft>
              <a:defRPr sz="1250">
                <a:solidFill>
                  <a:srgbClr val="FFFFFF"/>
                </a:solidFill>
              </a:defRPr>
            </a:pPr>
            <a:r>
              <a:t>• Chỉ chuyển lượt sau khi đội hiện tại bắn xong hoặc hết giờ</a:t>
            </a:r>
          </a:p>
          <a:p>
            <a:pPr>
              <a:spcAft>
                <a:spcPts val="400"/>
              </a:spcAft>
              <a:defRPr sz="1250">
                <a:solidFill>
                  <a:srgbClr val="FFFFFF"/>
                </a:solidFill>
              </a:defRPr>
            </a:pPr>
            <a:r>
              <a:t>• Đảm bảo tính chiến thuật công bằng tuyệt đối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617720" y="2497606"/>
            <a:ext cx="7040879" cy="2777187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06B6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8" name="Picture 7" descr="EV_05_Naval_TurnBased_SplitScree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63440" y="2543326"/>
            <a:ext cx="6949440" cy="2685747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548640" y="292608"/>
            <a:ext cx="2377440" cy="329184"/>
          </a:xfrm>
          <a:prstGeom prst="roundRect">
            <a:avLst/>
          </a:prstGeom>
          <a:solidFill>
            <a:srgbClr val="1E3A8A"/>
          </a:solidFill>
          <a:ln>
            <a:solidFill>
              <a:srgbClr val="06B6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defRPr sz="1100" b="1">
                <a:solidFill>
                  <a:srgbClr val="06B6D4"/>
                </a:solidFill>
              </a:defRPr>
            </a:pPr>
            <a:r>
              <a:t>PHẦN 9 • CHIẾN TRƯỜNG 15x15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58368"/>
            <a:ext cx="1106424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Minh Chứng Bắn Đại Bác Chuyển Lượt (EV_06) &amp; Bùa Cân Bằng X2 (EV_07)</a:t>
            </a:r>
          </a:p>
          <a:p>
            <a:pPr>
              <a:defRPr sz="1300">
                <a:solidFill>
                  <a:srgbClr val="94A3B8"/>
                </a:solidFill>
              </a:defRPr>
            </a:pPr>
            <a:r>
              <a:t>Kiểm thử TC_NAVAL_02, 05 (Trả lời đúng +1 đạn, bắn lưới 15x15) và TC_NAVAL_06, 07 (Quân số 1 vs 2 nhận BUFF X2)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02919" y="2797985"/>
            <a:ext cx="5486400" cy="2176428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06B6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EV_06_Naval_Shoot_And_SwitchTur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2843705"/>
            <a:ext cx="5394960" cy="2084988"/>
          </a:xfrm>
          <a:prstGeom prst="rect">
            <a:avLst/>
          </a:prstGeom>
        </p:spPr>
      </p:pic>
      <p:sp>
        <p:nvSpPr>
          <p:cNvPr id="7" name="Rounded Rectangle 6"/>
          <p:cNvSpPr/>
          <p:nvPr/>
        </p:nvSpPr>
        <p:spPr>
          <a:xfrm>
            <a:off x="6172200" y="2860913"/>
            <a:ext cx="5486400" cy="2050573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06B6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8" name="Picture 7" descr="EV_07_Naval_Balance_DoubleSho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17920" y="2906633"/>
            <a:ext cx="5394960" cy="1959133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548640" y="292608"/>
            <a:ext cx="2377440" cy="329184"/>
          </a:xfrm>
          <a:prstGeom prst="roundRect">
            <a:avLst/>
          </a:prstGeom>
          <a:solidFill>
            <a:srgbClr val="1E3A8A"/>
          </a:solidFill>
          <a:ln>
            <a:solidFill>
              <a:srgbClr val="06B6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defRPr sz="1100" b="1">
                <a:solidFill>
                  <a:srgbClr val="06B6D4"/>
                </a:solidFill>
              </a:defRPr>
            </a:pPr>
            <a:r>
              <a:t>PHẦN 10 • TRỌNG TÀI &amp; BÁO CÁO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58368"/>
            <a:ext cx="1106424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Minh Chứng Trọng Tài Quan Sát 4 Tiêu Chí (EV_08) &amp; Xuất Excel (EV_09)</a:t>
            </a:r>
          </a:p>
          <a:p>
            <a:pPr>
              <a:defRPr sz="1300">
                <a:solidFill>
                  <a:srgbClr val="94A3B8"/>
                </a:solidFill>
              </a:defRPr>
            </a:pPr>
            <a:r>
              <a:t>Chủ phòng giám sát trực tiếp 2 bản đồ 15x15, phân định thắng thua 4 tiêu chí và xuất bảng điểm Excel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02919" y="2797985"/>
            <a:ext cx="5486400" cy="2176428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06B6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EV_08_Host_Spectator_Refere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2843705"/>
            <a:ext cx="5394960" cy="2084988"/>
          </a:xfrm>
          <a:prstGeom prst="rect">
            <a:avLst/>
          </a:prstGeom>
        </p:spPr>
      </p:pic>
      <p:sp>
        <p:nvSpPr>
          <p:cNvPr id="7" name="Rounded Rectangle 6"/>
          <p:cNvSpPr/>
          <p:nvPr/>
        </p:nvSpPr>
        <p:spPr>
          <a:xfrm>
            <a:off x="6172200" y="2053399"/>
            <a:ext cx="5486400" cy="3665601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06B6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8" name="Picture 7" descr="EV_09_Report_And_Excel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17920" y="2099119"/>
            <a:ext cx="5394960" cy="3574161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548640" y="292608"/>
            <a:ext cx="2377440" cy="329184"/>
          </a:xfrm>
          <a:prstGeom prst="roundRect">
            <a:avLst/>
          </a:prstGeom>
          <a:solidFill>
            <a:srgbClr val="1E3A8A"/>
          </a:solidFill>
          <a:ln>
            <a:solidFill>
              <a:srgbClr val="06B6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defRPr sz="1100" b="1">
                <a:solidFill>
                  <a:srgbClr val="06B6D4"/>
                </a:solidFill>
              </a:defRPr>
            </a:pPr>
            <a:r>
              <a:t>PHẦN 11 • TỔNG KẾT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58368"/>
            <a:ext cx="1106424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Tổng Hợp Kết Quả Thực Thi Kiểm Thử &amp; Kết Luận Đề Tài 1</a:t>
            </a:r>
          </a:p>
          <a:p>
            <a:pPr>
              <a:defRPr sz="1300">
                <a:solidFill>
                  <a:srgbClr val="94A3B8"/>
                </a:solidFill>
              </a:defRPr>
            </a:pPr>
            <a:r>
              <a:t>Hoàn thành 100% mục tiêu kế hoạch kiểm thử với bộ bằng chứng thực thi trực tiếp trên hệ thống thật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48640" y="1554480"/>
            <a:ext cx="5486400" cy="466344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13232" y="1682495"/>
            <a:ext cx="5157216" cy="44074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500" b="1">
                <a:solidFill>
                  <a:srgbClr val="10B981"/>
                </a:solidFill>
              </a:defRPr>
            </a:pPr>
            <a:r>
              <a:t>Chỉ Số Chất Lượng Đạt Được (KPIs)</a:t>
            </a:r>
          </a:p>
          <a:p>
            <a:pPr>
              <a:spcAft>
                <a:spcPts val="400"/>
              </a:spcAft>
              <a:defRPr sz="1250">
                <a:solidFill>
                  <a:srgbClr val="FFFFFF"/>
                </a:solidFill>
              </a:defRPr>
            </a:pPr>
            <a:r>
              <a:t>• Tổng số yêu cầu độ phủ (RTM): 17 FR + 5 NFR (Độ phủ 100%)</a:t>
            </a:r>
          </a:p>
          <a:p>
            <a:pPr>
              <a:spcAft>
                <a:spcPts val="400"/>
              </a:spcAft>
              <a:defRPr sz="1250">
                <a:solidFill>
                  <a:srgbClr val="FFFFFF"/>
                </a:solidFill>
              </a:defRPr>
            </a:pPr>
            <a:r>
              <a:t>• Tổng số Test Cases thực thi: 25 / 25 Test Cases</a:t>
            </a:r>
          </a:p>
          <a:p>
            <a:pPr>
              <a:spcAft>
                <a:spcPts val="400"/>
              </a:spcAft>
              <a:defRPr sz="1250">
                <a:solidFill>
                  <a:srgbClr val="FFFFFF"/>
                </a:solidFill>
              </a:defRPr>
            </a:pPr>
            <a:r>
              <a:t>• Số lượng PASS: 25 TCs (100%) | FAIL: 0 TC (0%)</a:t>
            </a:r>
          </a:p>
          <a:p>
            <a:pPr>
              <a:spcAft>
                <a:spcPts val="400"/>
              </a:spcAft>
              <a:defRPr sz="1250">
                <a:solidFill>
                  <a:srgbClr val="FFFFFF"/>
                </a:solidFill>
              </a:defRPr>
            </a:pPr>
            <a:r>
              <a:t>• Bộ ảnh minh chứng thực tế: 10/10 ảnh chụp từ trình duyệt thật</a:t>
            </a:r>
          </a:p>
          <a:p>
            <a:pPr>
              <a:spcAft>
                <a:spcPts val="400"/>
              </a:spcAft>
              <a:defRPr sz="1250">
                <a:solidFill>
                  <a:srgbClr val="FFFFFF"/>
                </a:solidFill>
              </a:defRPr>
            </a:pPr>
            <a:r>
              <a:t>• Đạt toàn bộ tiêu chí nghiệm thu Exit Criteria theo IEEE 829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217920" y="1554480"/>
            <a:ext cx="5394960" cy="466344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06B6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382512" y="1682495"/>
            <a:ext cx="5065776" cy="44074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500" b="1">
                <a:solidFill>
                  <a:srgbClr val="06B6D4"/>
                </a:solidFill>
              </a:defRPr>
            </a:pPr>
            <a:r>
              <a:t>Kết Luận &amp; Hướng Phát Triển</a:t>
            </a:r>
          </a:p>
          <a:p>
            <a:pPr>
              <a:spcAft>
                <a:spcPts val="400"/>
              </a:spcAft>
              <a:defRPr sz="1250">
                <a:solidFill>
                  <a:srgbClr val="FFFFFF"/>
                </a:solidFill>
              </a:defRPr>
            </a:pPr>
            <a:r>
              <a:t>• Hệ thống GameEdu hoạt động ổn định, đồng bộ SignalR chính xác</a:t>
            </a:r>
          </a:p>
          <a:p>
            <a:pPr>
              <a:spcAft>
                <a:spcPts val="400"/>
              </a:spcAft>
              <a:defRPr sz="1250">
                <a:solidFill>
                  <a:srgbClr val="FFFFFF"/>
                </a:solidFill>
              </a:defRPr>
            </a:pPr>
            <a:r>
              <a:t>• Cơ chế Hải Tặc Tri Thức theo lượt và biên 0s vận hành mượt mà</a:t>
            </a:r>
          </a:p>
          <a:p>
            <a:pPr>
              <a:spcAft>
                <a:spcPts val="400"/>
              </a:spcAft>
              <a:defRPr sz="1250">
                <a:solidFill>
                  <a:srgbClr val="FFFFFF"/>
                </a:solidFill>
              </a:defRPr>
            </a:pPr>
            <a:r>
              <a:t>• Hồ sơ Test Plan, Test Case Excel và Slide đồng bộ chặt chẽ</a:t>
            </a:r>
          </a:p>
          <a:p>
            <a:pPr>
              <a:spcAft>
                <a:spcPts val="400"/>
              </a:spcAft>
              <a:defRPr sz="1250">
                <a:solidFill>
                  <a:srgbClr val="FFFFFF"/>
                </a:solidFill>
              </a:defRPr>
            </a:pPr>
            <a:r>
              <a:t>• Hướng mở rộng: Tự động hóa CI/CD E2E với Playwright trên GitHub Actions</a:t>
            </a:r>
          </a:p>
          <a:p>
            <a:pPr>
              <a:spcAft>
                <a:spcPts val="400"/>
              </a:spcAft>
              <a:defRPr sz="1250">
                <a:solidFill>
                  <a:srgbClr val="FFFFFF"/>
                </a:solidFill>
              </a:defRPr>
            </a:pPr>
            <a:r>
              <a:t>• Cảm ơn Giảng viên và các bạn đã lắng nghe!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